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9" r:id="rId5"/>
    <p:sldId id="269" r:id="rId6"/>
    <p:sldId id="260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8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387FF-7342-9BCA-C7D7-EDD981985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8CC68E-17FE-7DF4-4740-1202F056A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123799-F016-FA54-1DB3-BE45B823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0D0CF8-6914-52E5-2E6C-BB316F5E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8199D3-9B2D-7650-52FC-F5AD3AE0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800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36487-9B4B-D79F-AF71-95BC6071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31387D-5471-2C73-CC11-0209335F3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D3F6EF-691E-BB7F-CCFF-2948825D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CF166A-D253-51D7-7D7E-EF618E5E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5CCDEF-DC96-6C00-6A61-BA41EA71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9749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AA3C4-C28A-A466-4113-9EAFBA9C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3926F2-C452-BF13-2EB9-E3CF3895F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59FB9C-2AD9-F2F3-931A-2D6DD021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DB6D30-95A9-1FA4-7F32-8855CB0E9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0FF7C2-A428-DFBC-6B63-0CCFD2ADF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790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93709-57CC-8B8A-ACDA-52B099A2B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F367CB-7D09-0D71-A2D0-B1C39E67C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CF0DA5-16D7-E2BB-160D-8FFC67FAB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1A9472-ECC5-1821-D37B-637948928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1583DA-F103-9448-6B3A-960AC44AB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A3B456-B5E6-C420-B439-06C48784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783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84FBE-B287-6191-ADC2-E926ED9E6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DDAD2B-FEDC-0112-F6FE-4F5981C0A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92AFED-53F3-7023-EE34-B2D14A7CC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6D94AB-7207-AC70-5566-8DCDAF345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53A019F-BA09-50DD-C674-6B31927F6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032BD5A-4C99-1BA4-E582-D9933099E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5B83664-0283-46BC-1787-8346CE6AD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095616A-5885-DBF7-C578-2612E69B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5292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3C1A0-10D3-9331-D195-BD172D60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F8B5B6F-88A8-C62C-94F7-272B2185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BC26FF-9925-A964-A2D9-32D872E10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2D0B9E-BE85-CED8-B490-D4F344AF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868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A44BAF-0823-9037-E2C4-B228FA17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00E32D-6353-3E4C-C96E-E3E9710F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F353A9-8E21-5DF1-DBF7-0431B44DE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986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EB7A7-1AC3-CBB4-E602-2017F32A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78C84B-C033-4024-105E-AEDB67BCA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EBD0F1-F161-F176-E7F4-E48CDF81C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9E368A-8235-D162-7ECE-33AAB07E7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B78F0D-2714-9269-95B4-AB0D97962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EAEC2D-3386-E5E0-7128-48F2362B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9718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DE218-4049-2AAD-716D-158C48C8A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26DA213-8EE3-7FA4-B16D-AB718CD95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9D1CA8-0A69-6DB1-1ECF-CC8C0E28F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F1ECD3-B479-BF86-6669-49BDA4549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FD8DB7-35A2-2DBD-E34B-1A7AB1121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633A31-1C69-16CD-DD0C-F0006A7A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750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773821-7A7D-3CB1-F4C7-08944AC7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93957F-DFC7-B542-1D5B-7B015DD80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A2E185-B633-C445-9C17-CB36987F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55AEC5-7EC2-C664-1336-FF2D8197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4B0A87-5B5D-1936-1872-424A7BD4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503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DF7097-0C48-44C1-47E5-DED2BE462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74BC60-DA49-C583-B296-D5FA18D8D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92AD2F-033E-1144-3B4D-921A743D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42C7F7-0563-44B0-19D7-0349C470C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847D25-6AAD-FA56-007A-5909330B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683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89A932-EA2A-56A8-AFA5-4BCAAC5F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20826F-B08B-1ED6-5641-09D83ADAD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EC4F9E-55F2-23FA-BCAB-C6FC421C3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1D13D-9763-49B9-8530-E0057D044581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546EE9-213B-EDAB-9F44-C39E2C5B1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2413BF-3A10-EEAB-7C40-64036A218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388F4-04B3-4F7A-B388-31F390B532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836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8E6BE-B4B1-BF44-CA7E-956692BD91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Algoritmos de asociación en Minería de Datos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C19847-10BD-9291-69CF-BA500979C1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Profesor Manuel Reveco Cabello</a:t>
            </a:r>
          </a:p>
        </p:txBody>
      </p:sp>
    </p:spTree>
    <p:extLst>
      <p:ext uri="{BB962C8B-B14F-4D97-AF65-F5344CB8AC3E}">
        <p14:creationId xmlns:p14="http://schemas.microsoft.com/office/powerpoint/2010/main" val="1364131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2CB64-E8F2-4A19-14A9-738C59D1E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son los algoritmos de asociación?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1005F6-AD9F-75D8-1E11-BE660B0AF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ES" dirty="0"/>
              <a:t>Los algoritmos de asociación son otra técnica fundamental en minería de datos, distinta de la clasificación.</a:t>
            </a:r>
          </a:p>
          <a:p>
            <a:pPr marL="0" indent="0" algn="just">
              <a:buNone/>
            </a:pPr>
            <a:r>
              <a:rPr lang="es-ES" dirty="0"/>
              <a:t>Se utilizan para descubrir relaciones o patrones frecuentes entre elementos dentro de grandes conjuntos de datos.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24419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015E9-1358-E2DF-5703-1CE91856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Definición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50674A-E7B8-00B5-2401-4D564F4BF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s-CL" b="1" dirty="0"/>
              <a:t>Algoritmos de asociación</a:t>
            </a:r>
            <a:r>
              <a:rPr lang="es-CL" dirty="0"/>
              <a:t>: Métodos que buscan reglas del tipo </a:t>
            </a:r>
            <a:r>
              <a:rPr lang="es-CL" i="1" dirty="0"/>
              <a:t>“si ocurre A, entonces también ocurre B”</a:t>
            </a:r>
            <a:r>
              <a:rPr lang="es-CL" dirty="0"/>
              <a:t>.</a:t>
            </a:r>
            <a:endParaRPr lang="es-CL" sz="2400" dirty="0"/>
          </a:p>
          <a:p>
            <a:pPr lvl="0" algn="just"/>
            <a:r>
              <a:rPr lang="es-CL" dirty="0"/>
              <a:t>Se expresan como </a:t>
            </a:r>
            <a:r>
              <a:rPr lang="es-CL" b="1" dirty="0"/>
              <a:t>reglas de asociación</a:t>
            </a:r>
            <a:r>
              <a:rPr lang="es-CL" dirty="0"/>
              <a:t>:</a:t>
            </a:r>
            <a:endParaRPr lang="es-CL" sz="2400" dirty="0"/>
          </a:p>
          <a:p>
            <a:pPr lvl="1" algn="just"/>
            <a:r>
              <a:rPr lang="es-CL" dirty="0"/>
              <a:t>Ejemplo: </a:t>
            </a:r>
            <a:r>
              <a:rPr lang="es-CL" i="1" dirty="0"/>
              <a:t>Si un cliente compra pan, también compra mantequilla</a:t>
            </a:r>
            <a:r>
              <a:rPr lang="es-CL" dirty="0"/>
              <a:t>.</a:t>
            </a:r>
            <a:endParaRPr lang="es-CL" sz="2000" dirty="0"/>
          </a:p>
          <a:p>
            <a:pPr lvl="0" algn="just"/>
            <a:r>
              <a:rPr lang="es-CL" dirty="0"/>
              <a:t>Se basan en medidas como:</a:t>
            </a:r>
            <a:endParaRPr lang="es-CL" sz="2400" dirty="0"/>
          </a:p>
          <a:p>
            <a:pPr lvl="1" algn="just"/>
            <a:r>
              <a:rPr lang="es-CL" b="1" dirty="0"/>
              <a:t>Soporte</a:t>
            </a:r>
            <a:r>
              <a:rPr lang="es-CL" dirty="0"/>
              <a:t>: frecuencia con que aparece la combinación.</a:t>
            </a:r>
            <a:endParaRPr lang="es-CL" sz="2000" dirty="0"/>
          </a:p>
          <a:p>
            <a:pPr lvl="1" algn="just"/>
            <a:r>
              <a:rPr lang="es-CL" b="1" dirty="0"/>
              <a:t>Confianza</a:t>
            </a:r>
            <a:r>
              <a:rPr lang="es-CL" dirty="0"/>
              <a:t>: probabilidad de que ocurra B dado que ocurrió A.</a:t>
            </a:r>
            <a:endParaRPr lang="es-CL" sz="2000" dirty="0"/>
          </a:p>
          <a:p>
            <a:pPr lvl="1" algn="just"/>
            <a:r>
              <a:rPr lang="es-CL" b="1" dirty="0" err="1"/>
              <a:t>Lift</a:t>
            </a:r>
            <a:r>
              <a:rPr lang="es-CL" dirty="0"/>
              <a:t>: mide la fuerza de la relación entre A y B.</a:t>
            </a:r>
            <a:endParaRPr lang="es-CL" sz="2000" dirty="0"/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435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E76E3-A018-BE90-9928-7A6727D9D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Principales algoritmos de asociación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87A756-24AA-1A2F-71A0-03DD21998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 err="1"/>
              <a:t>Apriori</a:t>
            </a:r>
            <a:r>
              <a:rPr lang="es-ES" dirty="0"/>
              <a:t>: Genera conjuntos frecuentes de ítems y luego reglas.</a:t>
            </a:r>
          </a:p>
          <a:p>
            <a:pPr algn="just"/>
            <a:r>
              <a:rPr lang="es-ES" dirty="0"/>
              <a:t>FP-</a:t>
            </a:r>
            <a:r>
              <a:rPr lang="es-ES" dirty="0" err="1"/>
              <a:t>Growth</a:t>
            </a:r>
            <a:r>
              <a:rPr lang="es-ES" dirty="0"/>
              <a:t>: Usa estructuras compactas para encontrar patrones.</a:t>
            </a:r>
          </a:p>
          <a:p>
            <a:pPr algn="just"/>
            <a:r>
              <a:rPr lang="es-ES" dirty="0" err="1"/>
              <a:t>Eclat</a:t>
            </a:r>
            <a:r>
              <a:rPr lang="es-ES" dirty="0"/>
              <a:t>: Basado en intersección de conjuntos para descubrir asociaciones.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01992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1CD93-04E5-7236-7DBF-55498FC6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Aplicaciones prácticas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D2550F-3284-7116-C5F9-DA1F49795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Análisis de compras: Optimización de ventas cruzadas y disposición de productos.</a:t>
            </a:r>
          </a:p>
          <a:p>
            <a:pPr algn="just"/>
            <a:r>
              <a:rPr lang="es-ES" dirty="0"/>
              <a:t>Minería web: Descubrir patrones de navegación de usuarios.</a:t>
            </a:r>
          </a:p>
          <a:p>
            <a:pPr algn="just"/>
            <a:r>
              <a:rPr lang="es-ES" dirty="0"/>
              <a:t>Bioinformática: Identificar relaciones entre genes o proteínas.</a:t>
            </a:r>
          </a:p>
          <a:p>
            <a:pPr algn="just"/>
            <a:r>
              <a:rPr lang="es-ES" dirty="0"/>
              <a:t>Detección de intrusos: Encontrar patrones sospechosos en registros de seguridad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8206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EC83A-87EB-C42E-C4A8-8C4C4B5C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Funcionamiento del algoritmo </a:t>
            </a:r>
            <a:r>
              <a:rPr lang="es-CL" dirty="0" err="1"/>
              <a:t>Apriori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98E541-2AA7-7637-99D6-C9524A62F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El algoritmo busca conjuntos frecuentes de ítems en una base de datos y luego genera reglas de asociación.</a:t>
            </a:r>
          </a:p>
          <a:p>
            <a:pPr marL="0" indent="0" algn="just">
              <a:buNone/>
            </a:pPr>
            <a:r>
              <a:rPr lang="es-ES" dirty="0"/>
              <a:t>Se basa en la idea de que:</a:t>
            </a:r>
          </a:p>
          <a:p>
            <a:pPr algn="just"/>
            <a:r>
              <a:rPr lang="es-ES" dirty="0"/>
              <a:t>Si un conjunto de ítems es frecuente, todos sus subconjuntos también lo son.</a:t>
            </a:r>
          </a:p>
          <a:p>
            <a:pPr algn="just"/>
            <a:r>
              <a:rPr lang="es-ES" dirty="0"/>
              <a:t>Si un conjunto no es frecuente, ninguno de sus superconjuntos lo será.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3129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C7EEB-7EF8-17AA-3227-0CD9FFFE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Ejemplo: Compra en un supermercado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955948-C91E-0D87-2C95-52AA46CC0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s-CL" dirty="0"/>
              <a:t>Supongamos que tenemos las siguientes compras en un supermercado:</a:t>
            </a:r>
          </a:p>
          <a:p>
            <a:pPr marL="0" indent="0" algn="just">
              <a:buNone/>
            </a:pPr>
            <a:r>
              <a:rPr lang="es-CL" dirty="0"/>
              <a:t>	{Leche, Pan, Mantequilla}</a:t>
            </a:r>
          </a:p>
          <a:p>
            <a:pPr marL="0" indent="0" algn="just">
              <a:buNone/>
            </a:pPr>
            <a:r>
              <a:rPr lang="es-CL" dirty="0"/>
              <a:t>	{Leche, Pan}</a:t>
            </a:r>
          </a:p>
          <a:p>
            <a:pPr marL="0" indent="0" algn="just">
              <a:buNone/>
            </a:pPr>
            <a:r>
              <a:rPr lang="es-CL" dirty="0"/>
              <a:t>	{Leche, Manzanas}</a:t>
            </a:r>
          </a:p>
          <a:p>
            <a:pPr marL="0" indent="0" algn="just">
              <a:buNone/>
            </a:pPr>
            <a:r>
              <a:rPr lang="es-CL" dirty="0"/>
              <a:t>	{Pan, Mantequilla}</a:t>
            </a:r>
          </a:p>
          <a:p>
            <a:pPr marL="0" indent="0" algn="just">
              <a:buNone/>
            </a:pPr>
            <a:r>
              <a:rPr lang="es-CL" dirty="0"/>
              <a:t>	{Leche, Pan, Manzanas}</a:t>
            </a:r>
          </a:p>
          <a:p>
            <a:pPr algn="just"/>
            <a:r>
              <a:rPr lang="es-CL" dirty="0"/>
              <a:t>Queremos descubrir reglas como:</a:t>
            </a:r>
          </a:p>
          <a:p>
            <a:pPr marL="0" indent="0" algn="just">
              <a:buNone/>
            </a:pPr>
            <a:r>
              <a:rPr lang="es-CL" dirty="0"/>
              <a:t>	Si alguien compra Pan y Leche ⇒ probablemente también compre Mantequilla.</a:t>
            </a:r>
          </a:p>
        </p:txBody>
      </p:sp>
    </p:spTree>
    <p:extLst>
      <p:ext uri="{BB962C8B-B14F-4D97-AF65-F5344CB8AC3E}">
        <p14:creationId xmlns:p14="http://schemas.microsoft.com/office/powerpoint/2010/main" val="4128459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75F21-2FD9-A546-FB47-3CD1A373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Pasos del </a:t>
            </a:r>
            <a:r>
              <a:rPr lang="es-CL" dirty="0" err="1"/>
              <a:t>Apriori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D4437-CEE0-CE5E-2432-7CD8E65FD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Definir soporte mínimo (ej. 40%).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Encontrar ítems frecuentes (aparecen en ≥ 40% de transacciones).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Generar combinaciones de ítems frecuentes.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Calcular soporte y confianza de cada regla.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Filtrar reglas útiles según los umbrales definidos.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Necesitamos instalar la librería </a:t>
            </a:r>
            <a:r>
              <a:rPr lang="es-ES" dirty="0" err="1"/>
              <a:t>mlxtend</a:t>
            </a:r>
            <a:r>
              <a:rPr lang="es-ES" dirty="0"/>
              <a:t> : </a:t>
            </a:r>
            <a:r>
              <a:rPr lang="es-CL" b="1" dirty="0" err="1"/>
              <a:t>pip</a:t>
            </a:r>
            <a:r>
              <a:rPr lang="es-CL" b="1" dirty="0"/>
              <a:t> </a:t>
            </a:r>
            <a:r>
              <a:rPr lang="es-CL" b="1" dirty="0" err="1"/>
              <a:t>install</a:t>
            </a:r>
            <a:r>
              <a:rPr lang="es-CL" b="1" dirty="0"/>
              <a:t> </a:t>
            </a:r>
            <a:r>
              <a:rPr lang="es-CL" b="1" dirty="0" err="1"/>
              <a:t>mlxtend</a:t>
            </a:r>
            <a:endParaRPr lang="es-CL" b="1" dirty="0"/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11682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69081C5-ADE8-A2EA-01A6-202603742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724" y="509581"/>
            <a:ext cx="9017876" cy="595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8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BC957-E6C0-8D2A-F5BB-5C52C13F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Explicación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40292C-4AFF-533B-1D8D-1DE83D232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ES" dirty="0" err="1"/>
              <a:t>Dataset</a:t>
            </a:r>
            <a:r>
              <a:rPr lang="es-ES" dirty="0"/>
              <a:t>: cada lista representa un ticket de compra.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Transformación: se convierte a una matriz binaria (producto presente = 1).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err="1"/>
              <a:t>Apriori</a:t>
            </a:r>
            <a:r>
              <a:rPr lang="es-ES" dirty="0"/>
              <a:t>: encuentra combinaciones frecuentes de productos.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Reglas de asociación: genera reglas como:</a:t>
            </a:r>
          </a:p>
          <a:p>
            <a:pPr lvl="1"/>
            <a:r>
              <a:rPr lang="es-ES" dirty="0"/>
              <a:t>Si compran pan → también compran leche (confianza 75%, </a:t>
            </a:r>
            <a:r>
              <a:rPr lang="es-ES" dirty="0" err="1"/>
              <a:t>lift</a:t>
            </a:r>
            <a:r>
              <a:rPr lang="es-ES" dirty="0"/>
              <a:t> 1.2).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08512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76E983F-8287-805D-CDD1-BA5306477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48" y="771154"/>
            <a:ext cx="8806568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57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7C197B-E994-3ED0-B9F7-7C564A732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50" y="583325"/>
            <a:ext cx="11107700" cy="57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5FE40-BD62-9EBB-8C00-A60515B0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El grafo representa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5D7EB4-8CC5-B0F3-BC70-FFAE50EE0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b="1" dirty="0"/>
              <a:t>Nodos</a:t>
            </a:r>
            <a:r>
              <a:rPr lang="es-ES" dirty="0"/>
              <a:t>: representan productos (ej. Leche, Pan, Mantequilla).</a:t>
            </a:r>
          </a:p>
          <a:p>
            <a:pPr algn="just"/>
            <a:r>
              <a:rPr lang="es-ES" b="1" dirty="0"/>
              <a:t>Aristas dirigidas</a:t>
            </a:r>
            <a:r>
              <a:rPr lang="es-ES" dirty="0"/>
              <a:t>: muestran reglas de asociación (ej. Leche, Pan → Mantequilla).</a:t>
            </a:r>
          </a:p>
          <a:p>
            <a:pPr algn="just"/>
            <a:r>
              <a:rPr lang="es-ES" b="1" dirty="0"/>
              <a:t>Etiquetas en las aristas</a:t>
            </a:r>
            <a:r>
              <a:rPr lang="es-ES" dirty="0"/>
              <a:t>: indican el </a:t>
            </a:r>
            <a:r>
              <a:rPr lang="es-ES" b="1" dirty="0" err="1"/>
              <a:t>lift</a:t>
            </a:r>
            <a:r>
              <a:rPr lang="es-ES" dirty="0"/>
              <a:t> (elevación), que mide la fuerza de la relación.</a:t>
            </a:r>
          </a:p>
          <a:p>
            <a:pPr algn="just"/>
            <a:r>
              <a:rPr lang="es-ES" dirty="0"/>
              <a:t>Cuanto más alto el </a:t>
            </a:r>
            <a:r>
              <a:rPr lang="es-ES" dirty="0" err="1"/>
              <a:t>lift</a:t>
            </a:r>
            <a:r>
              <a:rPr lang="es-ES" dirty="0"/>
              <a:t>, más fuerte es la asociación.</a:t>
            </a:r>
          </a:p>
          <a:p>
            <a:pPr marL="0" indent="0" algn="just">
              <a:buNone/>
            </a:pPr>
            <a:r>
              <a:rPr lang="es-ES" dirty="0"/>
              <a:t>Este tipo de visualización es muy útil para identificar </a:t>
            </a:r>
            <a:r>
              <a:rPr lang="es-ES" b="1" dirty="0" err="1"/>
              <a:t>clusters</a:t>
            </a:r>
            <a:r>
              <a:rPr lang="es-ES" b="1" dirty="0"/>
              <a:t> de productos</a:t>
            </a:r>
            <a:r>
              <a:rPr lang="es-ES" dirty="0"/>
              <a:t> que suelen comprarse juntos y para diseñar estrategias de </a:t>
            </a:r>
            <a:r>
              <a:rPr lang="es-ES" b="1" dirty="0"/>
              <a:t>ventas cruzadas</a:t>
            </a:r>
            <a:r>
              <a:rPr lang="es-ES" dirty="0"/>
              <a:t> o disposición en góndolas.</a:t>
            </a: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3765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C7D43-CC5D-2BDE-29AF-CFEE34DF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 </a:t>
            </a:r>
            <a:r>
              <a:rPr lang="es-CL" dirty="0" err="1"/>
              <a:t>Apriori</a:t>
            </a:r>
            <a:r>
              <a:rPr lang="es-CL" dirty="0"/>
              <a:t> K-</a:t>
            </a:r>
            <a:r>
              <a:rPr lang="es-CL" dirty="0" err="1"/>
              <a:t>Means</a:t>
            </a:r>
            <a:r>
              <a:rPr lang="es-CL" dirty="0"/>
              <a:t>  Generar </a:t>
            </a:r>
            <a:r>
              <a:rPr lang="es-CL" dirty="0" err="1"/>
              <a:t>dataset</a:t>
            </a:r>
            <a:r>
              <a:rPr lang="es-CL" dirty="0"/>
              <a:t> CSV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86685D-51F2-5920-80DC-317A401FC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90" y="1690687"/>
            <a:ext cx="10121462" cy="495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679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5A4CC2F-ABDA-53EC-844A-83C8A1E38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69" y="536028"/>
            <a:ext cx="10310648" cy="588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03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360E24-C5C5-F787-E067-4ABA50E59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03" y="536026"/>
            <a:ext cx="10057794" cy="565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73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A223E-2A6C-1222-44E8-4F8C0DD6C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Interpretación de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C393AA-F71C-87C2-609B-0B1D47C6D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ES" b="1" dirty="0" err="1"/>
              <a:t>Apriori</a:t>
            </a:r>
            <a:endParaRPr lang="es-ES" b="1" dirty="0"/>
          </a:p>
          <a:p>
            <a:pPr algn="just"/>
            <a:r>
              <a:rPr lang="es-ES" dirty="0"/>
              <a:t>Se pueden ver reglas como:</a:t>
            </a:r>
          </a:p>
          <a:p>
            <a:pPr lvl="1" algn="just"/>
            <a:r>
              <a:rPr lang="es-ES" dirty="0"/>
              <a:t>{Leche, Pan} ⇒ {Mantequilla} con alta confianza.</a:t>
            </a:r>
          </a:p>
          <a:p>
            <a:pPr lvl="1" algn="just"/>
            <a:r>
              <a:rPr lang="es-ES" dirty="0"/>
              <a:t>{Huevos} ⇒ {Yogurt} si aparecen juntos frecuentemente.</a:t>
            </a:r>
          </a:p>
          <a:p>
            <a:pPr algn="just"/>
            <a:r>
              <a:rPr lang="es-ES" dirty="0"/>
              <a:t>El gráfico de </a:t>
            </a:r>
            <a:r>
              <a:rPr lang="es-ES" b="1" dirty="0"/>
              <a:t>soporte vs confianza</a:t>
            </a:r>
            <a:r>
              <a:rPr lang="es-ES" dirty="0"/>
              <a:t> muestra qué reglas son más relevantes y fuertes.</a:t>
            </a: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21768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DB848-2CD1-07F9-CF79-79084637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Interpretación de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F02192-026E-1E78-ABC6-610426781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ES" b="1" dirty="0"/>
              <a:t>K-Means</a:t>
            </a:r>
          </a:p>
          <a:p>
            <a:pPr algn="just"/>
            <a:r>
              <a:rPr lang="es-ES" dirty="0"/>
              <a:t>Segmenta clientes en </a:t>
            </a:r>
            <a:r>
              <a:rPr lang="es-ES" b="1" dirty="0" err="1"/>
              <a:t>clusters</a:t>
            </a:r>
            <a:r>
              <a:rPr lang="es-ES" dirty="0"/>
              <a:t> según sus patrones de compra.</a:t>
            </a:r>
          </a:p>
          <a:p>
            <a:pPr algn="just"/>
            <a:r>
              <a:rPr lang="es-ES" dirty="0"/>
              <a:t>Ejemplo:</a:t>
            </a:r>
          </a:p>
          <a:p>
            <a:pPr lvl="1" algn="just"/>
            <a:r>
              <a:rPr lang="es-ES" b="1" dirty="0"/>
              <a:t>Cluster 0</a:t>
            </a:r>
            <a:r>
              <a:rPr lang="es-ES" dirty="0"/>
              <a:t>: compradores frecuentes de </a:t>
            </a:r>
            <a:r>
              <a:rPr lang="es-ES" i="1" dirty="0"/>
              <a:t>Leche y Pan</a:t>
            </a:r>
            <a:r>
              <a:rPr lang="es-ES" dirty="0"/>
              <a:t>.</a:t>
            </a:r>
          </a:p>
          <a:p>
            <a:pPr lvl="1" algn="just"/>
            <a:r>
              <a:rPr lang="es-ES" b="1" dirty="0"/>
              <a:t>Cluster 1</a:t>
            </a:r>
            <a:r>
              <a:rPr lang="es-ES" dirty="0"/>
              <a:t>: clientes que prefieren </a:t>
            </a:r>
            <a:r>
              <a:rPr lang="es-ES" i="1" dirty="0"/>
              <a:t>Huevos y Yogurt</a:t>
            </a:r>
            <a:r>
              <a:rPr lang="es-ES" dirty="0"/>
              <a:t>.</a:t>
            </a:r>
          </a:p>
          <a:p>
            <a:pPr lvl="1" algn="just"/>
            <a:r>
              <a:rPr lang="es-ES" b="1" dirty="0"/>
              <a:t>Cluster 2</a:t>
            </a:r>
            <a:r>
              <a:rPr lang="es-ES" dirty="0"/>
              <a:t>: compradores variados con </a:t>
            </a:r>
            <a:r>
              <a:rPr lang="es-ES" i="1" dirty="0"/>
              <a:t>Manzanas y Mantequilla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El gráfico muestra cómo se agrupan los clientes según dos productos clave.</a:t>
            </a: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23246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B4ABC6-0E3C-EAAF-F91F-18DB76782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Este flujo permite usar </a:t>
            </a:r>
            <a:r>
              <a:rPr lang="es-ES" dirty="0" err="1"/>
              <a:t>Apriori</a:t>
            </a:r>
            <a:r>
              <a:rPr lang="es-ES" dirty="0"/>
              <a:t> para descubrir asociaciones de productos y K-Means para segmentar clientes, lo que es muy útil en marketing y </a:t>
            </a:r>
            <a:r>
              <a:rPr lang="es-ES" dirty="0" err="1"/>
              <a:t>retail</a:t>
            </a:r>
            <a:r>
              <a:rPr lang="es-ES" dirty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075560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683</Words>
  <Application>Microsoft Office PowerPoint</Application>
  <PresentationFormat>Panorámica</PresentationFormat>
  <Paragraphs>72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Tema de Office</vt:lpstr>
      <vt:lpstr>Algoritmos de asociación en Minería de Datos</vt:lpstr>
      <vt:lpstr>¿Qué son los algoritmos de asociación?</vt:lpstr>
      <vt:lpstr>Definición </vt:lpstr>
      <vt:lpstr>Principales algoritmos de asociación</vt:lpstr>
      <vt:lpstr>Aplicaciones prácticas</vt:lpstr>
      <vt:lpstr>Funcionamiento del algoritmo Apriori</vt:lpstr>
      <vt:lpstr>Ejemplo: Compra en un supermercado</vt:lpstr>
      <vt:lpstr>Pasos del Apriori</vt:lpstr>
      <vt:lpstr>Presentación de PowerPoint</vt:lpstr>
      <vt:lpstr>Explicación </vt:lpstr>
      <vt:lpstr>Presentación de PowerPoint</vt:lpstr>
      <vt:lpstr>Presentación de PowerPoint</vt:lpstr>
      <vt:lpstr>El grafo representa</vt:lpstr>
      <vt:lpstr>Ejemplo Apriori K-Means  Generar dataset CSV</vt:lpstr>
      <vt:lpstr>Presentación de PowerPoint</vt:lpstr>
      <vt:lpstr>Presentación de PowerPoint</vt:lpstr>
      <vt:lpstr>Interpretación de resultados</vt:lpstr>
      <vt:lpstr>Interpretación de resultados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de asociación en Minería de Datos</dc:title>
  <dc:creator>MANUEL ANTONIO REVECO CABELLO</dc:creator>
  <cp:lastModifiedBy>Salas Puerto Montt</cp:lastModifiedBy>
  <cp:revision>10</cp:revision>
  <dcterms:created xsi:type="dcterms:W3CDTF">2026-05-07T03:26:25Z</dcterms:created>
  <dcterms:modified xsi:type="dcterms:W3CDTF">2026-05-08T16:49:41Z</dcterms:modified>
</cp:coreProperties>
</file>